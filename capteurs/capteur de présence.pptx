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sz="quarter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quarter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quarter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quarter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914400" y="138112"/>
            <a:ext cx="16459200" cy="2262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Freeform 3"/>
          <p:cNvSpPr/>
          <p:nvPr/>
        </p:nvSpPr>
        <p:spPr>
          <a:xfrm>
            <a:off x="-1" y="-1"/>
            <a:ext cx="8991601" cy="1028700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97" name="Group 4"/>
          <p:cNvGrpSpPr/>
          <p:nvPr/>
        </p:nvGrpSpPr>
        <p:grpSpPr>
          <a:xfrm>
            <a:off x="10744200" y="738187"/>
            <a:ext cx="6877050" cy="466590"/>
            <a:chOff x="0" y="0"/>
            <a:chExt cx="6877049" cy="466588"/>
          </a:xfrm>
        </p:grpSpPr>
        <p:sp>
          <p:nvSpPr>
            <p:cNvPr id="95" name="Freeform 5"/>
            <p:cNvSpPr/>
            <p:nvPr/>
          </p:nvSpPr>
          <p:spPr>
            <a:xfrm flipH="1" rot="16200000">
              <a:off x="27414" y="-15292"/>
              <a:ext cx="416358" cy="471187"/>
            </a:xfrm>
            <a:prstGeom prst="rect">
              <a:avLst/>
            </a:prstGeom>
            <a:blipFill rotWithShape="1">
              <a:blip r:embed="rId3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6" name="TextBox 6"/>
            <p:cNvSpPr txBox="1"/>
            <p:nvPr/>
          </p:nvSpPr>
          <p:spPr>
            <a:xfrm>
              <a:off x="596477" y="0"/>
              <a:ext cx="6280573" cy="4665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3500"/>
                </a:lnSpc>
                <a:defRPr spc="-77" sz="3800">
                  <a:solidFill>
                    <a:srgbClr val="39FF14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defRPr>
              </a:lvl1pPr>
            </a:lstStyle>
            <a:p>
              <a:pPr/>
              <a:r>
                <a:t>Cerbère</a:t>
              </a:r>
            </a:p>
          </p:txBody>
        </p:sp>
      </p:grpSp>
      <p:grpSp>
        <p:nvGrpSpPr>
          <p:cNvPr id="100" name="Group 7"/>
          <p:cNvGrpSpPr/>
          <p:nvPr/>
        </p:nvGrpSpPr>
        <p:grpSpPr>
          <a:xfrm>
            <a:off x="10734675" y="1712118"/>
            <a:ext cx="6886575" cy="4198045"/>
            <a:chOff x="0" y="0"/>
            <a:chExt cx="6886575" cy="4198044"/>
          </a:xfrm>
        </p:grpSpPr>
        <p:sp>
          <p:nvSpPr>
            <p:cNvPr id="98" name="TextBox 8"/>
            <p:cNvSpPr txBox="1"/>
            <p:nvPr/>
          </p:nvSpPr>
          <p:spPr>
            <a:xfrm>
              <a:off x="0" y="0"/>
              <a:ext cx="6886575" cy="26811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10400"/>
                </a:lnSpc>
                <a:defRPr sz="10400">
                  <a:solidFill>
                    <a:srgbClr val="39FF14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defRPr>
              </a:lvl1pPr>
            </a:lstStyle>
            <a:p>
              <a:pPr/>
              <a:r>
                <a:t>Étude des Capteurs</a:t>
              </a:r>
            </a:p>
          </p:txBody>
        </p:sp>
        <p:sp>
          <p:nvSpPr>
            <p:cNvPr id="99" name="TextBox 9"/>
            <p:cNvSpPr txBox="1"/>
            <p:nvPr/>
          </p:nvSpPr>
          <p:spPr>
            <a:xfrm>
              <a:off x="0" y="2952817"/>
              <a:ext cx="6879502" cy="12452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5000"/>
                </a:lnSpc>
                <a:defRPr sz="3500">
                  <a:solidFill>
                    <a:srgbClr val="39FF14"/>
                  </a:solidFill>
                  <a:latin typeface="DM Sans"/>
                  <a:ea typeface="DM Sans"/>
                  <a:cs typeface="DM Sans"/>
                  <a:sym typeface="DM Sans"/>
                </a:defRPr>
              </a:lvl1pPr>
            </a:lstStyle>
            <a:p>
              <a:pPr/>
              <a:r>
                <a:t>Analyse technique des technologies</a:t>
              </a:r>
            </a:p>
          </p:txBody>
        </p:sp>
      </p:grpSp>
      <p:grpSp>
        <p:nvGrpSpPr>
          <p:cNvPr id="103" name="Group 10"/>
          <p:cNvGrpSpPr/>
          <p:nvPr/>
        </p:nvGrpSpPr>
        <p:grpSpPr>
          <a:xfrm>
            <a:off x="10744200" y="8705184"/>
            <a:ext cx="5743575" cy="1297178"/>
            <a:chOff x="0" y="0"/>
            <a:chExt cx="5743575" cy="1297176"/>
          </a:xfrm>
        </p:grpSpPr>
        <p:sp>
          <p:nvSpPr>
            <p:cNvPr id="101" name="TextBox 11"/>
            <p:cNvSpPr txBox="1"/>
            <p:nvPr/>
          </p:nvSpPr>
          <p:spPr>
            <a:xfrm>
              <a:off x="0" y="554226"/>
              <a:ext cx="5743575" cy="7429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3000"/>
                </a:lnSpc>
                <a:defRPr sz="2200">
                  <a:solidFill>
                    <a:srgbClr val="ECECEC"/>
                  </a:solidFill>
                  <a:latin typeface="DM Sans"/>
                  <a:ea typeface="DM Sans"/>
                  <a:cs typeface="DM Sans"/>
                  <a:sym typeface="DM Sans"/>
                </a:defRPr>
              </a:lvl1pPr>
            </a:lstStyle>
            <a:p>
              <a:pPr/>
              <a:r>
                <a:t>FRANCIS Dylan</a:t>
              </a:r>
            </a:p>
          </p:txBody>
        </p:sp>
        <p:sp>
          <p:nvSpPr>
            <p:cNvPr id="102" name="TextBox 12"/>
            <p:cNvSpPr txBox="1"/>
            <p:nvPr/>
          </p:nvSpPr>
          <p:spPr>
            <a:xfrm>
              <a:off x="0" y="0"/>
              <a:ext cx="5743575" cy="441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3600"/>
                </a:lnSpc>
                <a:defRPr b="1" sz="2600">
                  <a:solidFill>
                    <a:srgbClr val="39FF14"/>
                  </a:solidFill>
                  <a:latin typeface="DM Sans Bold"/>
                  <a:ea typeface="DM Sans Bold"/>
                  <a:cs typeface="DM Sans Bold"/>
                  <a:sym typeface="DM Sans Bold"/>
                </a:defRPr>
              </a:lvl1pPr>
            </a:lstStyle>
            <a:p>
              <a:pPr/>
              <a:r>
                <a:t>PRÉSENTÉ PAR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Freeform 3"/>
          <p:cNvSpPr/>
          <p:nvPr/>
        </p:nvSpPr>
        <p:spPr>
          <a:xfrm>
            <a:off x="666749" y="2457450"/>
            <a:ext cx="5448305" cy="358140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6" name="Freeform 5"/>
          <p:cNvSpPr/>
          <p:nvPr/>
        </p:nvSpPr>
        <p:spPr>
          <a:xfrm>
            <a:off x="6419849" y="2457450"/>
            <a:ext cx="5448305" cy="358140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7" name="Freeform 7"/>
          <p:cNvSpPr/>
          <p:nvPr/>
        </p:nvSpPr>
        <p:spPr>
          <a:xfrm>
            <a:off x="12172949" y="2457450"/>
            <a:ext cx="5448305" cy="3581401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8" name="TextBox 8"/>
          <p:cNvSpPr txBox="1"/>
          <p:nvPr/>
        </p:nvSpPr>
        <p:spPr>
          <a:xfrm>
            <a:off x="666750" y="733424"/>
            <a:ext cx="16954500" cy="1127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800"/>
              </a:lnSpc>
              <a:defRPr sz="8000">
                <a:solidFill>
                  <a:srgbClr val="39FF14"/>
                </a:solidFill>
                <a:latin typeface="Georgia Pro Light"/>
                <a:ea typeface="Georgia Pro Light"/>
                <a:cs typeface="Georgia Pro Light"/>
                <a:sym typeface="Georgia Pro Light"/>
              </a:defRPr>
            </a:lvl1pPr>
          </a:lstStyle>
          <a:p>
            <a:pPr/>
            <a:r>
              <a:t>Technologies de Détection</a:t>
            </a:r>
          </a:p>
        </p:txBody>
      </p:sp>
      <p:grpSp>
        <p:nvGrpSpPr>
          <p:cNvPr id="112" name="Group 9"/>
          <p:cNvGrpSpPr/>
          <p:nvPr/>
        </p:nvGrpSpPr>
        <p:grpSpPr>
          <a:xfrm>
            <a:off x="6419850" y="6507321"/>
            <a:ext cx="5448300" cy="2006977"/>
            <a:chOff x="0" y="0"/>
            <a:chExt cx="5448300" cy="2006975"/>
          </a:xfrm>
        </p:grpSpPr>
        <p:sp>
          <p:nvSpPr>
            <p:cNvPr id="109" name="TextBox 10"/>
            <p:cNvSpPr txBox="1"/>
            <p:nvPr/>
          </p:nvSpPr>
          <p:spPr>
            <a:xfrm>
              <a:off x="0" y="419735"/>
              <a:ext cx="5448300" cy="4053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3300"/>
                </a:lnSpc>
                <a:defRPr sz="2400">
                  <a:solidFill>
                    <a:srgbClr val="ECECEC"/>
                  </a:solidFill>
                  <a:latin typeface="DM Sans"/>
                  <a:ea typeface="DM Sans"/>
                  <a:cs typeface="DM Sans"/>
                  <a:sym typeface="DM Sans"/>
                </a:defRPr>
              </a:lvl1pPr>
            </a:lstStyle>
            <a:p>
              <a:pPr/>
              <a:r>
                <a:t>Télémètre Acoustique</a:t>
              </a:r>
            </a:p>
          </p:txBody>
        </p:sp>
        <p:sp>
          <p:nvSpPr>
            <p:cNvPr id="110" name="TextBox 11"/>
            <p:cNvSpPr txBox="1"/>
            <p:nvPr/>
          </p:nvSpPr>
          <p:spPr>
            <a:xfrm>
              <a:off x="0" y="1282700"/>
              <a:ext cx="5448300" cy="7242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900"/>
                </a:lnSpc>
                <a:defRPr sz="2100">
                  <a:solidFill>
                    <a:srgbClr val="ECECEC"/>
                  </a:solidFill>
                  <a:latin typeface="DM Sans"/>
                  <a:ea typeface="DM Sans"/>
                  <a:cs typeface="DM Sans"/>
                  <a:sym typeface="DM Sans"/>
                </a:defRPr>
              </a:lvl1pPr>
            </a:lstStyle>
            <a:p>
              <a:pPr/>
              <a:r>
                <a:t>Le capteur à ultrasons mesure la distance par une onde sonore et son écho.</a:t>
              </a:r>
            </a:p>
          </p:txBody>
        </p:sp>
        <p:sp>
          <p:nvSpPr>
            <p:cNvPr id="111" name="TextBox 12"/>
            <p:cNvSpPr txBox="1"/>
            <p:nvPr/>
          </p:nvSpPr>
          <p:spPr>
            <a:xfrm>
              <a:off x="0" y="0"/>
              <a:ext cx="5448300" cy="441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3600"/>
                </a:lnSpc>
                <a:defRPr b="1" sz="2600">
                  <a:solidFill>
                    <a:srgbClr val="39FF14"/>
                  </a:solidFill>
                  <a:latin typeface="DM Sans Bold"/>
                  <a:ea typeface="DM Sans Bold"/>
                  <a:cs typeface="DM Sans Bold"/>
                  <a:sym typeface="DM Sans Bold"/>
                </a:defRPr>
              </a:lvl1pPr>
            </a:lstStyle>
            <a:p>
              <a:pPr/>
              <a:r>
                <a:t>CAPTEUR ULTRASONS</a:t>
              </a:r>
            </a:p>
          </p:txBody>
        </p:sp>
      </p:grpSp>
      <p:grpSp>
        <p:nvGrpSpPr>
          <p:cNvPr id="116" name="Group 13"/>
          <p:cNvGrpSpPr/>
          <p:nvPr/>
        </p:nvGrpSpPr>
        <p:grpSpPr>
          <a:xfrm>
            <a:off x="666750" y="6507321"/>
            <a:ext cx="5448300" cy="2006977"/>
            <a:chOff x="0" y="0"/>
            <a:chExt cx="5448300" cy="2006975"/>
          </a:xfrm>
        </p:grpSpPr>
        <p:sp>
          <p:nvSpPr>
            <p:cNvPr id="113" name="TextBox 14"/>
            <p:cNvSpPr txBox="1"/>
            <p:nvPr/>
          </p:nvSpPr>
          <p:spPr>
            <a:xfrm>
              <a:off x="0" y="419735"/>
              <a:ext cx="5448300" cy="4053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3300"/>
                </a:lnSpc>
                <a:defRPr sz="2400">
                  <a:solidFill>
                    <a:srgbClr val="ECECEC"/>
                  </a:solidFill>
                  <a:latin typeface="DM Sans"/>
                  <a:ea typeface="DM Sans"/>
                  <a:cs typeface="DM Sans"/>
                  <a:sym typeface="DM Sans"/>
                </a:defRPr>
              </a:lvl1pPr>
            </a:lstStyle>
            <a:p>
              <a:pPr/>
              <a:r>
                <a:t>Infrarouge Passif</a:t>
              </a:r>
            </a:p>
          </p:txBody>
        </p:sp>
        <p:sp>
          <p:nvSpPr>
            <p:cNvPr id="114" name="TextBox 15"/>
            <p:cNvSpPr txBox="1"/>
            <p:nvPr/>
          </p:nvSpPr>
          <p:spPr>
            <a:xfrm>
              <a:off x="0" y="1282700"/>
              <a:ext cx="5448300" cy="7242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900"/>
                </a:lnSpc>
                <a:defRPr sz="2100">
                  <a:solidFill>
                    <a:srgbClr val="ECECEC"/>
                  </a:solidFill>
                  <a:latin typeface="DM Sans"/>
                  <a:ea typeface="DM Sans"/>
                  <a:cs typeface="DM Sans"/>
                  <a:sym typeface="DM Sans"/>
                </a:defRPr>
              </a:lvl1pPr>
            </a:lstStyle>
            <a:p>
              <a:pPr/>
              <a:r>
                <a:t>Le capteur PIR détecte les mouvements grâce aux variations de chaleur corporelle.</a:t>
              </a:r>
            </a:p>
          </p:txBody>
        </p:sp>
        <p:sp>
          <p:nvSpPr>
            <p:cNvPr id="115" name="TextBox 16"/>
            <p:cNvSpPr txBox="1"/>
            <p:nvPr/>
          </p:nvSpPr>
          <p:spPr>
            <a:xfrm>
              <a:off x="0" y="0"/>
              <a:ext cx="5448300" cy="441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3600"/>
                </a:lnSpc>
                <a:defRPr b="1" sz="2600">
                  <a:solidFill>
                    <a:srgbClr val="39FF14"/>
                  </a:solidFill>
                  <a:latin typeface="DM Sans Bold"/>
                  <a:ea typeface="DM Sans Bold"/>
                  <a:cs typeface="DM Sans Bold"/>
                  <a:sym typeface="DM Sans Bold"/>
                </a:defRPr>
              </a:lvl1pPr>
            </a:lstStyle>
            <a:p>
              <a:pPr/>
              <a:r>
                <a:t>CAPTEUR PIR</a:t>
              </a:r>
            </a:p>
          </p:txBody>
        </p:sp>
      </p:grpSp>
      <p:grpSp>
        <p:nvGrpSpPr>
          <p:cNvPr id="120" name="Group 17"/>
          <p:cNvGrpSpPr/>
          <p:nvPr/>
        </p:nvGrpSpPr>
        <p:grpSpPr>
          <a:xfrm>
            <a:off x="12172950" y="6507321"/>
            <a:ext cx="5448300" cy="2006977"/>
            <a:chOff x="0" y="0"/>
            <a:chExt cx="5448300" cy="2006975"/>
          </a:xfrm>
        </p:grpSpPr>
        <p:sp>
          <p:nvSpPr>
            <p:cNvPr id="117" name="TextBox 18"/>
            <p:cNvSpPr txBox="1"/>
            <p:nvPr/>
          </p:nvSpPr>
          <p:spPr>
            <a:xfrm>
              <a:off x="0" y="419735"/>
              <a:ext cx="5448300" cy="4053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3300"/>
                </a:lnSpc>
                <a:defRPr sz="2400">
                  <a:solidFill>
                    <a:srgbClr val="ECECEC"/>
                  </a:solidFill>
                  <a:latin typeface="DM Sans"/>
                  <a:ea typeface="DM Sans"/>
                  <a:cs typeface="DM Sans"/>
                  <a:sym typeface="DM Sans"/>
                </a:defRPr>
              </a:lvl1pPr>
            </a:lstStyle>
            <a:p>
              <a:pPr/>
              <a:r>
                <a:t>Triangulation Lumineuse</a:t>
              </a:r>
            </a:p>
          </p:txBody>
        </p:sp>
        <p:sp>
          <p:nvSpPr>
            <p:cNvPr id="118" name="TextBox 19"/>
            <p:cNvSpPr txBox="1"/>
            <p:nvPr/>
          </p:nvSpPr>
          <p:spPr>
            <a:xfrm>
              <a:off x="0" y="1282700"/>
              <a:ext cx="5448300" cy="7242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900"/>
                </a:lnSpc>
                <a:defRPr sz="2100">
                  <a:solidFill>
                    <a:srgbClr val="ECECEC"/>
                  </a:solidFill>
                  <a:latin typeface="DM Sans"/>
                  <a:ea typeface="DM Sans"/>
                  <a:cs typeface="DM Sans"/>
                  <a:sym typeface="DM Sans"/>
                </a:defRPr>
              </a:lvl1pPr>
            </a:lstStyle>
            <a:p>
              <a:pPr/>
              <a:r>
                <a:t>Le capteur infrarouge actif utilise la lumière pour mesurer la distance des objets proches.</a:t>
              </a:r>
            </a:p>
          </p:txBody>
        </p:sp>
        <p:sp>
          <p:nvSpPr>
            <p:cNvPr id="119" name="TextBox 20"/>
            <p:cNvSpPr txBox="1"/>
            <p:nvPr/>
          </p:nvSpPr>
          <p:spPr>
            <a:xfrm>
              <a:off x="0" y="0"/>
              <a:ext cx="5448300" cy="441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3600"/>
                </a:lnSpc>
                <a:defRPr b="1" sz="2600">
                  <a:solidFill>
                    <a:srgbClr val="39FF14"/>
                  </a:solidFill>
                  <a:latin typeface="DM Sans Bold"/>
                  <a:ea typeface="DM Sans Bold"/>
                  <a:cs typeface="DM Sans Bold"/>
                  <a:sym typeface="DM Sans Bold"/>
                </a:defRPr>
              </a:lvl1pPr>
            </a:lstStyle>
            <a:p>
              <a:pPr/>
              <a:r>
                <a:t>INFRAROUGE ACTIF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2"/>
          <p:cNvSpPr txBox="1"/>
          <p:nvPr/>
        </p:nvSpPr>
        <p:spPr>
          <a:xfrm>
            <a:off x="666750" y="733425"/>
            <a:ext cx="5753100" cy="2245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800"/>
              </a:lnSpc>
              <a:defRPr sz="8000">
                <a:solidFill>
                  <a:srgbClr val="39FF14"/>
                </a:solidFill>
                <a:latin typeface="Georgia Pro Light"/>
                <a:ea typeface="Georgia Pro Light"/>
                <a:cs typeface="Georgia Pro Light"/>
                <a:sym typeface="Georgia Pro Light"/>
              </a:defRPr>
            </a:lvl1pPr>
          </a:lstStyle>
          <a:p>
            <a:pPr/>
            <a:r>
              <a:t>Analyse Approfondie</a:t>
            </a:r>
          </a:p>
        </p:txBody>
      </p:sp>
      <p:sp>
        <p:nvSpPr>
          <p:cNvPr id="123" name="TextBox 3"/>
          <p:cNvSpPr txBox="1"/>
          <p:nvPr/>
        </p:nvSpPr>
        <p:spPr>
          <a:xfrm>
            <a:off x="9296400" y="2409824"/>
            <a:ext cx="7191375" cy="1457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900"/>
              </a:lnSpc>
              <a:defRPr sz="2000">
                <a:solidFill>
                  <a:srgbClr val="ECECE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/>
            <a:r>
              <a:t>Le capteur PIR analyse les variations de rayonnement infrarouge, détectant efficacement le mouvement d'êtres vivants à travers une lentille de Fresnel, offrant un large champ de vision de 120°.</a:t>
            </a:r>
          </a:p>
        </p:txBody>
      </p:sp>
      <p:sp>
        <p:nvSpPr>
          <p:cNvPr id="124" name="TextBox 4"/>
          <p:cNvSpPr txBox="1"/>
          <p:nvPr/>
        </p:nvSpPr>
        <p:spPr>
          <a:xfrm>
            <a:off x="9296400" y="1514475"/>
            <a:ext cx="7191375" cy="441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2600">
                <a:solidFill>
                  <a:srgbClr val="39FF14"/>
                </a:solidFill>
                <a:latin typeface="DM Sans Bold"/>
                <a:ea typeface="DM Sans Bold"/>
                <a:cs typeface="DM Sans Bold"/>
                <a:sym typeface="DM Sans Bold"/>
              </a:defRPr>
            </a:lvl1pPr>
          </a:lstStyle>
          <a:p>
            <a:pPr/>
            <a:r>
              <a:t>PIR (DÉTECTION THERMIQUE)</a:t>
            </a:r>
          </a:p>
        </p:txBody>
      </p:sp>
      <p:sp>
        <p:nvSpPr>
          <p:cNvPr id="125" name="TextBox 5"/>
          <p:cNvSpPr txBox="1"/>
          <p:nvPr/>
        </p:nvSpPr>
        <p:spPr>
          <a:xfrm>
            <a:off x="9296400" y="5095874"/>
            <a:ext cx="7191375" cy="10896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900"/>
              </a:lnSpc>
              <a:defRPr sz="2000">
                <a:solidFill>
                  <a:srgbClr val="ECECE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/>
            <a:r>
              <a:t>Le capteur à ultrasons émet des ondes sonores à 40kHz, mesurant le temps de retour de l'écho pour déterminer la distance, mais souffre d'un champ de détection étroit de 15°.</a:t>
            </a:r>
          </a:p>
        </p:txBody>
      </p:sp>
      <p:sp>
        <p:nvSpPr>
          <p:cNvPr id="126" name="TextBox 6"/>
          <p:cNvSpPr txBox="1"/>
          <p:nvPr/>
        </p:nvSpPr>
        <p:spPr>
          <a:xfrm>
            <a:off x="9296400" y="4200525"/>
            <a:ext cx="7191375" cy="441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2600">
                <a:solidFill>
                  <a:srgbClr val="39FF14"/>
                </a:solidFill>
                <a:latin typeface="DM Sans Bold"/>
                <a:ea typeface="DM Sans Bold"/>
                <a:cs typeface="DM Sans Bold"/>
                <a:sym typeface="DM Sans Bold"/>
              </a:defRPr>
            </a:lvl1pPr>
          </a:lstStyle>
          <a:p>
            <a:pPr/>
            <a:r>
              <a:t>ULTRASONS (ÉCHOLOCATION)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Box 2"/>
          <p:cNvSpPr txBox="1"/>
          <p:nvPr/>
        </p:nvSpPr>
        <p:spPr>
          <a:xfrm>
            <a:off x="9296400" y="2415539"/>
            <a:ext cx="7191375" cy="10540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800"/>
              </a:lnSpc>
              <a:defRPr sz="2000">
                <a:solidFill>
                  <a:srgbClr val="ECECEC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t>Le capteur PIR HC-SR501 offre un </a:t>
            </a:r>
            <a:r>
              <a:rPr b="1">
                <a:latin typeface="DM Sans Bold"/>
                <a:ea typeface="DM Sans Bold"/>
                <a:cs typeface="DM Sans Bold"/>
                <a:sym typeface="DM Sans Bold"/>
              </a:rPr>
              <a:t>large angle de détection</a:t>
            </a:r>
            <a:r>
              <a:t> de 120°, permettant de couvrir efficacement l'approche latérale, contrairement aux ultrasons qui ont un cône très étroit de 15°.</a:t>
            </a:r>
          </a:p>
        </p:txBody>
      </p:sp>
      <p:sp>
        <p:nvSpPr>
          <p:cNvPr id="129" name="TextBox 3"/>
          <p:cNvSpPr txBox="1"/>
          <p:nvPr/>
        </p:nvSpPr>
        <p:spPr>
          <a:xfrm>
            <a:off x="9296400" y="1510664"/>
            <a:ext cx="7191375" cy="44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2600">
                <a:solidFill>
                  <a:srgbClr val="39FF14"/>
                </a:solidFill>
                <a:latin typeface="DM Sans Bold"/>
                <a:ea typeface="DM Sans Bold"/>
                <a:cs typeface="DM Sans Bold"/>
                <a:sym typeface="DM Sans Bold"/>
              </a:defRPr>
            </a:lvl1pPr>
          </a:lstStyle>
          <a:p>
            <a:pPr/>
            <a:r>
              <a:t>CHAMP DE VISION</a:t>
            </a:r>
          </a:p>
        </p:txBody>
      </p:sp>
      <p:sp>
        <p:nvSpPr>
          <p:cNvPr id="130" name="TextBox 4"/>
          <p:cNvSpPr txBox="1"/>
          <p:nvPr/>
        </p:nvSpPr>
        <p:spPr>
          <a:xfrm>
            <a:off x="9296400" y="5105399"/>
            <a:ext cx="7191375" cy="1409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800"/>
              </a:lnSpc>
              <a:defRPr sz="2000">
                <a:solidFill>
                  <a:srgbClr val="ECECEC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t>Grâce à son fonctionnement passif, le capteur PIR consomme très peu d'énergie, se traduisant par une utilisation optimale pour des systèmes </a:t>
            </a:r>
            <a:r>
              <a:rPr b="1">
                <a:latin typeface="DM Sans Bold"/>
                <a:ea typeface="DM Sans Bold"/>
                <a:cs typeface="DM Sans Bold"/>
                <a:sym typeface="DM Sans Bold"/>
              </a:rPr>
              <a:t>alimentés par batterie</a:t>
            </a:r>
            <a:r>
              <a:t> ou nécessitant une faible consommation d'énergie.</a:t>
            </a:r>
          </a:p>
        </p:txBody>
      </p:sp>
      <p:sp>
        <p:nvSpPr>
          <p:cNvPr id="131" name="TextBox 5"/>
          <p:cNvSpPr txBox="1"/>
          <p:nvPr/>
        </p:nvSpPr>
        <p:spPr>
          <a:xfrm>
            <a:off x="9296400" y="4200525"/>
            <a:ext cx="7191375" cy="441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2600">
                <a:solidFill>
                  <a:srgbClr val="39FF14"/>
                </a:solidFill>
                <a:latin typeface="DM Sans Bold"/>
                <a:ea typeface="DM Sans Bold"/>
                <a:cs typeface="DM Sans Bold"/>
                <a:sym typeface="DM Sans Bold"/>
              </a:defRPr>
            </a:lvl1pPr>
          </a:lstStyle>
          <a:p>
            <a:pPr/>
            <a:r>
              <a:t>CONSOMMATION ÉNERGÉTIQUE</a:t>
            </a:r>
          </a:p>
        </p:txBody>
      </p:sp>
      <p:sp>
        <p:nvSpPr>
          <p:cNvPr id="132" name="TextBox 6"/>
          <p:cNvSpPr txBox="1"/>
          <p:nvPr/>
        </p:nvSpPr>
        <p:spPr>
          <a:xfrm>
            <a:off x="9296400" y="7787640"/>
            <a:ext cx="7191375" cy="14096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800"/>
              </a:lnSpc>
              <a:defRPr sz="2000">
                <a:solidFill>
                  <a:srgbClr val="ECECEC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t>Pour une application de porte d'entrée, détecter simplement l'arrivée d'une personne est plus crucial que de mesurer la </a:t>
            </a:r>
            <a:r>
              <a:rPr b="1">
                <a:latin typeface="DM Sans Bold"/>
                <a:ea typeface="DM Sans Bold"/>
                <a:cs typeface="DM Sans Bold"/>
                <a:sym typeface="DM Sans Bold"/>
              </a:rPr>
              <a:t>distance exacte</a:t>
            </a:r>
            <a:r>
              <a:t>, favorisant ainsi l'utilisation du capteur PIR adapté à ces besoins.</a:t>
            </a:r>
          </a:p>
        </p:txBody>
      </p:sp>
      <p:sp>
        <p:nvSpPr>
          <p:cNvPr id="133" name="TextBox 7"/>
          <p:cNvSpPr txBox="1"/>
          <p:nvPr/>
        </p:nvSpPr>
        <p:spPr>
          <a:xfrm>
            <a:off x="9296400" y="6887795"/>
            <a:ext cx="7191375" cy="441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2600">
                <a:solidFill>
                  <a:srgbClr val="39FF14"/>
                </a:solidFill>
                <a:latin typeface="DM Sans Bold"/>
                <a:ea typeface="DM Sans Bold"/>
                <a:cs typeface="DM Sans Bold"/>
                <a:sym typeface="DM Sans Bold"/>
              </a:defRPr>
            </a:lvl1pPr>
          </a:lstStyle>
          <a:p>
            <a:pPr/>
            <a:r>
              <a:t>PERTINENCE FONCTIONNELLE</a:t>
            </a:r>
          </a:p>
        </p:txBody>
      </p:sp>
      <p:sp>
        <p:nvSpPr>
          <p:cNvPr id="134" name="TextBox 8"/>
          <p:cNvSpPr txBox="1"/>
          <p:nvPr/>
        </p:nvSpPr>
        <p:spPr>
          <a:xfrm>
            <a:off x="666750" y="733425"/>
            <a:ext cx="5753100" cy="2245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800"/>
              </a:lnSpc>
              <a:defRPr sz="8000">
                <a:solidFill>
                  <a:srgbClr val="39FF14"/>
                </a:solidFill>
                <a:latin typeface="Georgia Pro Light"/>
                <a:ea typeface="Georgia Pro Light"/>
                <a:cs typeface="Georgia Pro Light"/>
                <a:sym typeface="Georgia Pro Light"/>
              </a:defRPr>
            </a:lvl1pPr>
          </a:lstStyle>
          <a:p>
            <a:pPr/>
            <a:r>
              <a:t>Décision Technique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Freeform 3"/>
          <p:cNvSpPr/>
          <p:nvPr/>
        </p:nvSpPr>
        <p:spPr>
          <a:xfrm>
            <a:off x="10734674" y="0"/>
            <a:ext cx="7553326" cy="1028700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139" name="Group 4"/>
          <p:cNvGrpSpPr/>
          <p:nvPr/>
        </p:nvGrpSpPr>
        <p:grpSpPr>
          <a:xfrm>
            <a:off x="666750" y="716756"/>
            <a:ext cx="8324850" cy="3692847"/>
            <a:chOff x="0" y="0"/>
            <a:chExt cx="8324850" cy="3692846"/>
          </a:xfrm>
        </p:grpSpPr>
        <p:sp>
          <p:nvSpPr>
            <p:cNvPr id="137" name="TextBox 5"/>
            <p:cNvSpPr txBox="1"/>
            <p:nvPr/>
          </p:nvSpPr>
          <p:spPr>
            <a:xfrm>
              <a:off x="0" y="0"/>
              <a:ext cx="8324850" cy="22453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8800"/>
                </a:lnSpc>
                <a:defRPr sz="8000">
                  <a:solidFill>
                    <a:srgbClr val="39FF14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defRPr>
              </a:lvl1pPr>
            </a:lstStyle>
            <a:p>
              <a:pPr/>
              <a:r>
                <a:t>Synthèse des Bénéfices</a:t>
              </a:r>
            </a:p>
          </p:txBody>
        </p:sp>
        <p:sp>
          <p:nvSpPr>
            <p:cNvPr id="138" name="TextBox 6"/>
            <p:cNvSpPr txBox="1"/>
            <p:nvPr/>
          </p:nvSpPr>
          <p:spPr>
            <a:xfrm>
              <a:off x="0" y="2600271"/>
              <a:ext cx="8324850" cy="10925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lnSpc>
                  <a:spcPts val="2900"/>
                </a:lnSpc>
                <a:defRPr sz="2100">
                  <a:solidFill>
                    <a:srgbClr val="ECECEC"/>
                  </a:solidFill>
                  <a:latin typeface="DM Sans"/>
                  <a:ea typeface="DM Sans"/>
                  <a:cs typeface="DM Sans"/>
                  <a:sym typeface="DM Sans"/>
                </a:defRPr>
              </a:pPr>
              <a:r>
                <a:t>Le capteur PIR HC-SR501 se distingue par sa </a:t>
              </a:r>
              <a:r>
                <a:rPr b="1">
                  <a:latin typeface="DM Sans Bold"/>
                  <a:ea typeface="DM Sans Bold"/>
                  <a:cs typeface="DM Sans Bold"/>
                  <a:sym typeface="DM Sans Bold"/>
                </a:rPr>
                <a:t>performance énergétique</a:t>
              </a:r>
              <a:r>
                <a:t> et son efficacité dans la détection de présence, en offrant une solution idéale pour les systèmes de contrôle d'accès.</a:t>
              </a:r>
            </a:p>
          </p:txBody>
        </p:sp>
      </p:grpSp>
      <p:pic>
        <p:nvPicPr>
          <p:cNvPr id="140" name="pasted-movie.png" descr="pasted-movie.png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 rot="5400000">
            <a:off x="9335131" y="1440112"/>
            <a:ext cx="10217283" cy="738751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